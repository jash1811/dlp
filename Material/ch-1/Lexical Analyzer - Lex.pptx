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4" r:id="rId10"/>
    <p:sldId id="275" r:id="rId11"/>
    <p:sldId id="276" r:id="rId12"/>
    <p:sldId id="277" r:id="rId13"/>
    <p:sldId id="278" r:id="rId14"/>
    <p:sldId id="273" r:id="rId15"/>
    <p:sldId id="279" r:id="rId16"/>
    <p:sldId id="281" r:id="rId17"/>
    <p:sldId id="282" r:id="rId18"/>
    <p:sldId id="284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74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233F-C156-4693-955F-E4FBB19C01B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3551-D787-4EB3-9B37-48DBAB5E7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51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233F-C156-4693-955F-E4FBB19C01B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3551-D787-4EB3-9B37-48DBAB5E7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803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233F-C156-4693-955F-E4FBB19C01B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3551-D787-4EB3-9B37-48DBAB5E7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329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233F-C156-4693-955F-E4FBB19C01B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3551-D787-4EB3-9B37-48DBAB5E7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425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233F-C156-4693-955F-E4FBB19C01B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3551-D787-4EB3-9B37-48DBAB5E7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095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233F-C156-4693-955F-E4FBB19C01B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3551-D787-4EB3-9B37-48DBAB5E7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523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233F-C156-4693-955F-E4FBB19C01B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3551-D787-4EB3-9B37-48DBAB5E7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47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233F-C156-4693-955F-E4FBB19C01B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3551-D787-4EB3-9B37-48DBAB5E7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92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233F-C156-4693-955F-E4FBB19C01B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3551-D787-4EB3-9B37-48DBAB5E7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987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233F-C156-4693-955F-E4FBB19C01B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3551-D787-4EB3-9B37-48DBAB5E7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2415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F233F-C156-4693-955F-E4FBB19C01B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3551-D787-4EB3-9B37-48DBAB5E7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500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F233F-C156-4693-955F-E4FBB19C01B1}" type="datetimeFigureOut">
              <a:rPr lang="en-IN" smtClean="0"/>
              <a:t>26-12-2024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F3551-D787-4EB3-9B37-48DBAB5E73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659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59080"/>
            <a:ext cx="11826240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611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0"/>
            <a:ext cx="11216640" cy="669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802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1919"/>
            <a:ext cx="10890545" cy="656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91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0"/>
            <a:ext cx="112928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824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80" y="209976"/>
            <a:ext cx="11679760" cy="6465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053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92" y="198120"/>
            <a:ext cx="11592609" cy="633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814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" y="723522"/>
            <a:ext cx="10058400" cy="5410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017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1285" y="573932"/>
            <a:ext cx="1129381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 smtClean="0"/>
              <a:t>Metacharacters</a:t>
            </a:r>
            <a:endParaRPr lang="en-US" sz="2800" b="1" dirty="0"/>
          </a:p>
          <a:p>
            <a:r>
              <a:rPr lang="en-US" sz="2800" dirty="0"/>
              <a:t>The simplest example of a </a:t>
            </a:r>
            <a:r>
              <a:rPr lang="en-US" sz="2800" dirty="0" err="1"/>
              <a:t>metacharacter</a:t>
            </a:r>
            <a:r>
              <a:rPr lang="en-US" sz="2800" dirty="0"/>
              <a:t> is the full stop.</a:t>
            </a:r>
          </a:p>
          <a:p>
            <a:r>
              <a:rPr lang="en-US" sz="2800" b="1" dirty="0" smtClean="0"/>
              <a:t>‘ . ’</a:t>
            </a:r>
            <a:endParaRPr lang="en-US" sz="2800" b="1" dirty="0"/>
          </a:p>
          <a:p>
            <a:r>
              <a:rPr lang="en-US" sz="2800" dirty="0"/>
              <a:t> </a:t>
            </a:r>
          </a:p>
          <a:p>
            <a:r>
              <a:rPr lang="en-US" sz="2800" dirty="0"/>
              <a:t>The full stop character matches </a:t>
            </a:r>
            <a:r>
              <a:rPr lang="en-US" sz="2800" dirty="0" smtClean="0"/>
              <a:t>character </a:t>
            </a:r>
            <a:r>
              <a:rPr lang="en-US" sz="2800" dirty="0"/>
              <a:t>of any sort (apart from a newline).</a:t>
            </a:r>
          </a:p>
          <a:p>
            <a:endParaRPr lang="en-US" sz="2800" dirty="0" smtClean="0"/>
          </a:p>
          <a:p>
            <a:r>
              <a:rPr lang="en-US" sz="2800" dirty="0" smtClean="0"/>
              <a:t>For </a:t>
            </a:r>
            <a:r>
              <a:rPr lang="en-US" sz="2800" dirty="0"/>
              <a:t>example, the regular expression ".at" means: any letter, followed by the letter `a', followed by the letter `t'.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".at" </a:t>
            </a:r>
            <a:r>
              <a:rPr lang="en-US" sz="2800" dirty="0" smtClean="0"/>
              <a:t>= The </a:t>
            </a:r>
            <a:r>
              <a:rPr lang="en-US" sz="2800" b="1" dirty="0"/>
              <a:t>cat sat </a:t>
            </a:r>
            <a:r>
              <a:rPr lang="en-US" sz="2800" dirty="0"/>
              <a:t>on the </a:t>
            </a:r>
            <a:r>
              <a:rPr lang="en-US" sz="2800" b="1" dirty="0"/>
              <a:t>mat</a:t>
            </a:r>
            <a:r>
              <a:rPr lang="en-US" sz="2800" dirty="0"/>
              <a:t> 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155264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5643" y="0"/>
            <a:ext cx="11783438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Character sets</a:t>
            </a:r>
          </a:p>
          <a:p>
            <a:endParaRPr lang="en-US" sz="2400" dirty="0"/>
          </a:p>
          <a:p>
            <a:r>
              <a:rPr lang="en-US" sz="2400" b="1" dirty="0" smtClean="0"/>
              <a:t>‘[‘ and ‘]’</a:t>
            </a:r>
            <a:endParaRPr lang="en-US" sz="2400" b="1" dirty="0"/>
          </a:p>
          <a:p>
            <a:r>
              <a:rPr lang="en-US" sz="2400" dirty="0"/>
              <a:t> </a:t>
            </a:r>
          </a:p>
          <a:p>
            <a:r>
              <a:rPr lang="en-US" sz="2400" dirty="0"/>
              <a:t>Square brackets in a regular expression are used to indicate a character set. A character set will </a:t>
            </a:r>
            <a:r>
              <a:rPr lang="en-US" sz="2400" b="1" dirty="0"/>
              <a:t>match any character in the set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dirty="0"/>
              <a:t>For example, the regular expression "[Tt]he" means: an uppercase `T' or a lowercase `t', followed by the letter `h', followed by the letter `e'.</a:t>
            </a:r>
          </a:p>
          <a:p>
            <a:endParaRPr lang="en-US" sz="2400" dirty="0"/>
          </a:p>
          <a:p>
            <a:r>
              <a:rPr lang="en-US" sz="2400" dirty="0"/>
              <a:t>"[Tt]he" </a:t>
            </a:r>
            <a:r>
              <a:rPr lang="en-US" sz="2400" dirty="0" smtClean="0"/>
              <a:t>=  </a:t>
            </a:r>
            <a:r>
              <a:rPr lang="en-US" sz="2400" b="1" dirty="0" smtClean="0"/>
              <a:t>The</a:t>
            </a:r>
            <a:r>
              <a:rPr lang="en-US" sz="2400" dirty="0" smtClean="0"/>
              <a:t> </a:t>
            </a:r>
            <a:r>
              <a:rPr lang="en-US" sz="2400" dirty="0"/>
              <a:t>cat sat on </a:t>
            </a:r>
            <a:r>
              <a:rPr lang="en-US" sz="2400" b="1" dirty="0"/>
              <a:t>the</a:t>
            </a:r>
            <a:r>
              <a:rPr lang="en-US" sz="2400" dirty="0"/>
              <a:t> mat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dirty="0"/>
              <a:t>Within square brackets, common ranges may </a:t>
            </a:r>
            <a:r>
              <a:rPr lang="en-US" sz="2400" b="1" dirty="0"/>
              <a:t>be specified by start and end characters</a:t>
            </a:r>
            <a:r>
              <a:rPr lang="en-US" sz="2400" dirty="0"/>
              <a:t>, with a dash in between, e.g., 0-9 for the Arabic numerals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dirty="0"/>
              <a:t>For example, the regular expression </a:t>
            </a:r>
            <a:r>
              <a:rPr lang="en-US" sz="2400" b="1" dirty="0"/>
              <a:t>"[a-z]at" </a:t>
            </a:r>
            <a:r>
              <a:rPr lang="en-US" sz="2400" dirty="0"/>
              <a:t>means: </a:t>
            </a:r>
            <a:r>
              <a:rPr lang="en-US" sz="2400" b="1" dirty="0"/>
              <a:t>any (English) lowercase letter, followed by the letter `a', followed by the letter `t'.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261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3190" y="0"/>
            <a:ext cx="11644009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400" b="1" dirty="0"/>
              <a:t>"[a-z]at" </a:t>
            </a:r>
            <a:r>
              <a:rPr lang="en-US" sz="2400" dirty="0" smtClean="0"/>
              <a:t>= The </a:t>
            </a:r>
            <a:r>
              <a:rPr lang="en-US" sz="2400" b="1" dirty="0"/>
              <a:t>cat sat </a:t>
            </a:r>
            <a:r>
              <a:rPr lang="en-US" sz="2400" dirty="0"/>
              <a:t>on the </a:t>
            </a:r>
            <a:r>
              <a:rPr lang="en-US" sz="2400" b="1" dirty="0"/>
              <a:t>mat</a:t>
            </a:r>
            <a:r>
              <a:rPr lang="en-US" sz="2400" dirty="0"/>
              <a:t> .</a:t>
            </a:r>
          </a:p>
          <a:p>
            <a:endParaRPr lang="en-US" sz="2400" dirty="0" smtClean="0"/>
          </a:p>
          <a:p>
            <a:r>
              <a:rPr lang="en-US" sz="2400" dirty="0" smtClean="0"/>
              <a:t>If </a:t>
            </a:r>
            <a:r>
              <a:rPr lang="en-US" sz="2400" dirty="0"/>
              <a:t>a hat character </a:t>
            </a:r>
            <a:r>
              <a:rPr lang="en-US" sz="2400" dirty="0" smtClean="0"/>
              <a:t>(^)appears </a:t>
            </a:r>
            <a:r>
              <a:rPr lang="en-US" sz="2400" dirty="0"/>
              <a:t>as the first character within square brackets, the set is inverted so that a match occurs if any character other than the set specified within the square brackets is found.</a:t>
            </a:r>
          </a:p>
          <a:p>
            <a:r>
              <a:rPr lang="en-US" sz="2400" dirty="0"/>
              <a:t>For example, the regular expression </a:t>
            </a:r>
            <a:r>
              <a:rPr lang="en-US" sz="2400" b="1" dirty="0"/>
              <a:t>"[^c]at" means: any letter except `c', followed by the letter `a', followed by the letter `t'.</a:t>
            </a:r>
          </a:p>
          <a:p>
            <a:endParaRPr lang="en-US" sz="2400" dirty="0"/>
          </a:p>
          <a:p>
            <a:r>
              <a:rPr lang="en-US" sz="2400" b="1" dirty="0"/>
              <a:t>"[^c]at" </a:t>
            </a:r>
            <a:r>
              <a:rPr lang="en-US" sz="2400" dirty="0" smtClean="0"/>
              <a:t>= The </a:t>
            </a:r>
            <a:r>
              <a:rPr lang="en-US" sz="2400" dirty="0"/>
              <a:t>cat </a:t>
            </a:r>
            <a:r>
              <a:rPr lang="en-US" sz="2400" b="1" dirty="0"/>
              <a:t>sat</a:t>
            </a:r>
            <a:r>
              <a:rPr lang="en-US" sz="2400" dirty="0"/>
              <a:t> on the </a:t>
            </a:r>
            <a:r>
              <a:rPr lang="en-US" sz="2400" b="1" dirty="0"/>
              <a:t>mat</a:t>
            </a:r>
            <a:r>
              <a:rPr lang="en-US" sz="2400" dirty="0"/>
              <a:t> 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dirty="0"/>
              <a:t>Within square brackets, most </a:t>
            </a:r>
            <a:r>
              <a:rPr lang="en-US" sz="2400" dirty="0" err="1"/>
              <a:t>metacharacters</a:t>
            </a:r>
            <a:r>
              <a:rPr lang="en-US" sz="2400" dirty="0"/>
              <a:t> revert to their literal meaning. For example, [.] means a literal full stop.</a:t>
            </a:r>
          </a:p>
          <a:p>
            <a:r>
              <a:rPr lang="en-US" sz="2400" dirty="0"/>
              <a:t>For example, the regular expression "at[.]" means: the letter `a', followed by the letter `t', followed by a full stop.</a:t>
            </a:r>
          </a:p>
          <a:p>
            <a:endParaRPr lang="en-US" sz="2400" dirty="0"/>
          </a:p>
          <a:p>
            <a:r>
              <a:rPr lang="en-US" sz="2400" dirty="0"/>
              <a:t>"at." </a:t>
            </a:r>
            <a:r>
              <a:rPr lang="en-US" sz="2400" dirty="0" smtClean="0"/>
              <a:t>= The </a:t>
            </a:r>
            <a:r>
              <a:rPr lang="en-US" sz="2400" b="1" dirty="0"/>
              <a:t>cat sat </a:t>
            </a:r>
            <a:r>
              <a:rPr lang="en-US" sz="2400" dirty="0"/>
              <a:t>on the </a:t>
            </a:r>
            <a:r>
              <a:rPr lang="en-US" sz="2400" b="1" dirty="0"/>
              <a:t>mat.</a:t>
            </a:r>
          </a:p>
          <a:p>
            <a:r>
              <a:rPr lang="en-US" sz="2400" dirty="0"/>
              <a:t>"at[.]" </a:t>
            </a:r>
            <a:r>
              <a:rPr lang="en-US" sz="2400" dirty="0" smtClean="0"/>
              <a:t>= The </a:t>
            </a:r>
            <a:r>
              <a:rPr lang="en-US" sz="2400" dirty="0"/>
              <a:t>cat sat on the </a:t>
            </a:r>
            <a:r>
              <a:rPr lang="en-US" sz="2400" b="1" dirty="0"/>
              <a:t>mat.</a:t>
            </a:r>
          </a:p>
        </p:txBody>
      </p:sp>
    </p:spTree>
    <p:extLst>
      <p:ext uri="{BB962C8B-B14F-4D97-AF65-F5344CB8AC3E}">
        <p14:creationId xmlns:p14="http://schemas.microsoft.com/office/powerpoint/2010/main" val="3300595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09079" y="173663"/>
            <a:ext cx="704931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/>
              <a:t>Regular </a:t>
            </a:r>
            <a:r>
              <a:rPr lang="en-IN" sz="2400" b="1" dirty="0"/>
              <a:t>expression character classes</a:t>
            </a:r>
            <a:r>
              <a:rPr lang="en-IN" sz="2400" b="1" dirty="0" smtClean="0"/>
              <a:t>.</a:t>
            </a:r>
          </a:p>
          <a:p>
            <a:endParaRPr lang="en-IN" sz="2400" b="1" dirty="0"/>
          </a:p>
          <a:p>
            <a:r>
              <a:rPr lang="en-IN" sz="2400" dirty="0"/>
              <a:t>[:alpha:]	Alphabetic (only letters)</a:t>
            </a:r>
          </a:p>
          <a:p>
            <a:r>
              <a:rPr lang="en-IN" sz="2400" dirty="0"/>
              <a:t>[:lower:]	Lowercase letters</a:t>
            </a:r>
          </a:p>
          <a:p>
            <a:r>
              <a:rPr lang="en-IN" sz="2400" dirty="0"/>
              <a:t>[:upper:]	Uppercase letters</a:t>
            </a:r>
          </a:p>
          <a:p>
            <a:r>
              <a:rPr lang="en-IN" sz="2400" dirty="0"/>
              <a:t>[:digit:]	Digits</a:t>
            </a:r>
          </a:p>
          <a:p>
            <a:r>
              <a:rPr lang="en-IN" sz="2400" dirty="0"/>
              <a:t>[:</a:t>
            </a:r>
            <a:r>
              <a:rPr lang="en-IN" sz="2400" dirty="0" err="1"/>
              <a:t>alnum</a:t>
            </a:r>
            <a:r>
              <a:rPr lang="en-IN" sz="2400" dirty="0"/>
              <a:t>:]	Alphanumeric (letters and digits)</a:t>
            </a:r>
          </a:p>
          <a:p>
            <a:r>
              <a:rPr lang="en-IN" sz="2400" dirty="0"/>
              <a:t>[:space:]	White space</a:t>
            </a:r>
          </a:p>
          <a:p>
            <a:r>
              <a:rPr lang="en-IN" sz="2400" dirty="0"/>
              <a:t>[:</a:t>
            </a:r>
            <a:r>
              <a:rPr lang="en-IN" sz="2400" dirty="0" err="1"/>
              <a:t>punct</a:t>
            </a:r>
            <a:r>
              <a:rPr lang="en-IN" sz="2400" dirty="0"/>
              <a:t>:]	Punctuation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9079" y="3933164"/>
            <a:ext cx="1102792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For example, the regular expression "[[:lower:]]at" means: any lowercase letter in any language, followed by the letter `a', followed by the letter `t'.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"[[:lower:]]at" </a:t>
            </a:r>
            <a:r>
              <a:rPr lang="en-US" sz="2400" dirty="0" smtClean="0"/>
              <a:t>= The </a:t>
            </a:r>
            <a:r>
              <a:rPr lang="en-US" sz="2400" b="1" dirty="0"/>
              <a:t>cat sat </a:t>
            </a:r>
            <a:r>
              <a:rPr lang="en-US" sz="2400" dirty="0"/>
              <a:t>on the </a:t>
            </a:r>
            <a:r>
              <a:rPr lang="en-US" sz="2400" b="1" dirty="0"/>
              <a:t>mat</a:t>
            </a:r>
            <a:r>
              <a:rPr lang="en-US" sz="2400" dirty="0"/>
              <a:t> 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56015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004" y="293268"/>
            <a:ext cx="1208499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Anchors</a:t>
            </a:r>
            <a:r>
              <a:rPr lang="en-US" sz="2000" dirty="0" smtClean="0"/>
              <a:t>: Anchors </a:t>
            </a:r>
            <a:r>
              <a:rPr lang="en-US" sz="2000" dirty="0"/>
              <a:t>do not match characters. Instead, they match </a:t>
            </a:r>
            <a:r>
              <a:rPr lang="en-US" sz="2000" dirty="0" smtClean="0"/>
              <a:t>a </a:t>
            </a:r>
            <a:r>
              <a:rPr lang="en-US" sz="2000" dirty="0"/>
              <a:t>piece of text, such as the </a:t>
            </a:r>
            <a:r>
              <a:rPr lang="en-US" sz="2000" dirty="0" smtClean="0"/>
              <a:t>start (^) </a:t>
            </a:r>
            <a:r>
              <a:rPr lang="en-US" sz="2000" dirty="0"/>
              <a:t>and </a:t>
            </a:r>
            <a:r>
              <a:rPr lang="en-US" sz="2000" dirty="0" smtClean="0"/>
              <a:t>end ($) </a:t>
            </a:r>
            <a:r>
              <a:rPr lang="en-US" sz="2000" dirty="0"/>
              <a:t>of the text.</a:t>
            </a:r>
          </a:p>
          <a:p>
            <a:endParaRPr lang="en-US" sz="2000" dirty="0"/>
          </a:p>
          <a:p>
            <a:r>
              <a:rPr lang="en-US" sz="2000" b="1" dirty="0" smtClean="0"/>
              <a:t>‘^’</a:t>
            </a:r>
            <a:endParaRPr lang="en-US" sz="2000" b="1" dirty="0"/>
          </a:p>
          <a:p>
            <a:r>
              <a:rPr lang="en-US" sz="2000" dirty="0"/>
              <a:t>The “hat” </a:t>
            </a:r>
            <a:r>
              <a:rPr lang="en-US" sz="2000" dirty="0" smtClean="0"/>
              <a:t>character (^) </a:t>
            </a:r>
            <a:r>
              <a:rPr lang="en-US" sz="2000" dirty="0"/>
              <a:t>matches the start of a piece of text or the start of a line of text. Putting this at the start of a regular expression forces the match to begin at the start of the text. Otherwise, the pattern can be matched anywhere within the text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dirty="0"/>
              <a:t>For example, the regular expression </a:t>
            </a:r>
            <a:r>
              <a:rPr lang="en-US" sz="2000" b="1" dirty="0"/>
              <a:t>"^[Tt]he" </a:t>
            </a:r>
            <a:r>
              <a:rPr lang="en-US" sz="2000" dirty="0"/>
              <a:t>means: </a:t>
            </a:r>
            <a:r>
              <a:rPr lang="en-US" sz="2000" b="1" dirty="0"/>
              <a:t>at the start of the text an uppercase `T' or a lowercase `t', followed by the letter `h', followed by the letter `e</a:t>
            </a:r>
            <a:r>
              <a:rPr lang="en-US" sz="2000" b="1" dirty="0" smtClean="0"/>
              <a:t>'.</a:t>
            </a:r>
            <a:endParaRPr lang="en-US" sz="2000" b="1" dirty="0"/>
          </a:p>
          <a:p>
            <a:endParaRPr lang="en-US" sz="2000" dirty="0"/>
          </a:p>
          <a:p>
            <a:r>
              <a:rPr lang="en-US" sz="2000" dirty="0"/>
              <a:t>"[Tt]he" </a:t>
            </a:r>
            <a:r>
              <a:rPr lang="en-US" sz="2000" dirty="0" smtClean="0"/>
              <a:t>= </a:t>
            </a:r>
            <a:r>
              <a:rPr lang="en-US" sz="2000" b="1" dirty="0" smtClean="0"/>
              <a:t>The</a:t>
            </a:r>
            <a:r>
              <a:rPr lang="en-US" sz="2000" dirty="0" smtClean="0"/>
              <a:t> </a:t>
            </a:r>
            <a:r>
              <a:rPr lang="en-US" sz="2000" dirty="0"/>
              <a:t>cat sat on</a:t>
            </a:r>
            <a:r>
              <a:rPr lang="en-US" sz="2000" b="1" dirty="0"/>
              <a:t> the </a:t>
            </a:r>
            <a:r>
              <a:rPr lang="en-US" sz="2000" dirty="0"/>
              <a:t>mat.</a:t>
            </a:r>
          </a:p>
          <a:p>
            <a:r>
              <a:rPr lang="en-US" sz="2000" dirty="0"/>
              <a:t>"^[Tt]he" </a:t>
            </a:r>
            <a:r>
              <a:rPr lang="en-US" sz="2000" dirty="0" smtClean="0"/>
              <a:t>= </a:t>
            </a:r>
            <a:r>
              <a:rPr lang="en-US" sz="2000" b="1" dirty="0" smtClean="0"/>
              <a:t>The</a:t>
            </a:r>
            <a:r>
              <a:rPr lang="en-US" sz="2000" dirty="0" smtClean="0"/>
              <a:t> </a:t>
            </a:r>
            <a:r>
              <a:rPr lang="en-US" sz="2000" dirty="0"/>
              <a:t>cat sat on the mat</a:t>
            </a:r>
            <a:r>
              <a:rPr lang="en-US" sz="2000" dirty="0" smtClean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1033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8017" y="429374"/>
            <a:ext cx="1148836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/>
              <a:t>‘$’</a:t>
            </a:r>
            <a:endParaRPr lang="en-US" sz="2000" b="1" dirty="0"/>
          </a:p>
          <a:p>
            <a:r>
              <a:rPr lang="en-US" sz="2000" dirty="0"/>
              <a:t> </a:t>
            </a:r>
          </a:p>
          <a:p>
            <a:r>
              <a:rPr lang="en-US" sz="2000" dirty="0"/>
              <a:t>The dollar character matches the </a:t>
            </a:r>
            <a:r>
              <a:rPr lang="en-US" sz="2000" b="1" dirty="0"/>
              <a:t>end of a piece of text</a:t>
            </a:r>
            <a:r>
              <a:rPr lang="en-US" sz="2000" dirty="0"/>
              <a:t>. This is useful for ensuring that a match finishes at the end of the text.</a:t>
            </a:r>
          </a:p>
          <a:p>
            <a:r>
              <a:rPr lang="en-US" sz="2000" dirty="0"/>
              <a:t>For example, the regular expression </a:t>
            </a:r>
            <a:r>
              <a:rPr lang="en-US" sz="2000" b="1" dirty="0" smtClean="0"/>
              <a:t>"at.$" means: the letter `a', followed by the letter `t', followed by any character, at the end of the text.</a:t>
            </a:r>
            <a:endParaRPr lang="en-US" sz="2000" b="1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"at." </a:t>
            </a:r>
            <a:r>
              <a:rPr lang="en-US" sz="2000" dirty="0" smtClean="0"/>
              <a:t>= The </a:t>
            </a:r>
            <a:r>
              <a:rPr lang="en-US" sz="2000" b="1" dirty="0"/>
              <a:t>cat sat </a:t>
            </a:r>
            <a:r>
              <a:rPr lang="en-US" sz="2000" dirty="0"/>
              <a:t>on the </a:t>
            </a:r>
            <a:r>
              <a:rPr lang="en-US" sz="2000" b="1" dirty="0"/>
              <a:t>mat.</a:t>
            </a:r>
          </a:p>
          <a:p>
            <a:r>
              <a:rPr lang="en-US" sz="2000" dirty="0"/>
              <a:t>"at.$" </a:t>
            </a:r>
            <a:r>
              <a:rPr lang="en-US" sz="2000" dirty="0" smtClean="0"/>
              <a:t>= The </a:t>
            </a:r>
            <a:r>
              <a:rPr lang="en-US" sz="2000" dirty="0"/>
              <a:t>cat sat on the </a:t>
            </a:r>
            <a:r>
              <a:rPr lang="en-US" sz="2000" b="1" dirty="0"/>
              <a:t>mat.</a:t>
            </a:r>
          </a:p>
        </p:txBody>
      </p:sp>
    </p:spTree>
    <p:extLst>
      <p:ext uri="{BB962C8B-B14F-4D97-AF65-F5344CB8AC3E}">
        <p14:creationId xmlns:p14="http://schemas.microsoft.com/office/powerpoint/2010/main" val="3372290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7472" y="245028"/>
            <a:ext cx="1139109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Alternation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 smtClean="0"/>
              <a:t>‘|’</a:t>
            </a:r>
            <a:endParaRPr lang="en-US" sz="2400" dirty="0"/>
          </a:p>
          <a:p>
            <a:r>
              <a:rPr lang="en-US" sz="2400" dirty="0"/>
              <a:t> </a:t>
            </a:r>
          </a:p>
          <a:p>
            <a:r>
              <a:rPr lang="en-US" sz="2400" dirty="0"/>
              <a:t>The vertical bar character subdivides a regular expression into alternative </a:t>
            </a:r>
            <a:r>
              <a:rPr lang="en-US" sz="2400" dirty="0" err="1"/>
              <a:t>subpatterns</a:t>
            </a:r>
            <a:r>
              <a:rPr lang="en-US" sz="2400" dirty="0"/>
              <a:t>. </a:t>
            </a:r>
            <a:r>
              <a:rPr lang="en-US" sz="2400" b="1" dirty="0"/>
              <a:t>A match is made if either the pattern to the left of the vertical bar or the pattern to the right of the vertical bar is found</a:t>
            </a:r>
            <a:r>
              <a:rPr lang="en-US" sz="2400" b="1" dirty="0" smtClean="0"/>
              <a:t>.</a:t>
            </a:r>
          </a:p>
          <a:p>
            <a:endParaRPr lang="en-US" sz="2400" b="1" dirty="0"/>
          </a:p>
          <a:p>
            <a:r>
              <a:rPr lang="en-US" sz="2400" dirty="0"/>
              <a:t>For example, the regular expression </a:t>
            </a:r>
            <a:r>
              <a:rPr lang="en-US" sz="2400" b="1" dirty="0"/>
              <a:t>"</a:t>
            </a:r>
            <a:r>
              <a:rPr lang="en-US" sz="2400" b="1" dirty="0" err="1"/>
              <a:t>cat|sat</a:t>
            </a:r>
            <a:r>
              <a:rPr lang="en-US" sz="2400" b="1" dirty="0"/>
              <a:t>" </a:t>
            </a:r>
            <a:r>
              <a:rPr lang="en-US" sz="2400" dirty="0"/>
              <a:t>means: the letter `c', followed by the letter `a', followed by the letter `t', or the letter `s', followed by the letter `a', followed by the letter `t'.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"</a:t>
            </a:r>
            <a:r>
              <a:rPr lang="en-US" sz="2400" dirty="0" err="1"/>
              <a:t>cat|sat</a:t>
            </a:r>
            <a:r>
              <a:rPr lang="en-US" sz="2400" dirty="0"/>
              <a:t>" </a:t>
            </a:r>
            <a:r>
              <a:rPr lang="en-US" sz="2400" dirty="0" smtClean="0"/>
              <a:t>= The </a:t>
            </a:r>
            <a:r>
              <a:rPr lang="en-US" sz="2400" b="1" dirty="0"/>
              <a:t>cat sat </a:t>
            </a:r>
            <a:r>
              <a:rPr lang="en-US" sz="2400" dirty="0"/>
              <a:t>on the mat.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91339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4552" y="355383"/>
            <a:ext cx="11848289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Repetitions</a:t>
            </a:r>
          </a:p>
          <a:p>
            <a:endParaRPr lang="en-US" sz="2000" dirty="0"/>
          </a:p>
          <a:p>
            <a:r>
              <a:rPr lang="en-US" sz="2000" b="1" dirty="0"/>
              <a:t>Three </a:t>
            </a:r>
            <a:r>
              <a:rPr lang="en-US" sz="2000" b="1" dirty="0" err="1"/>
              <a:t>metacharacters</a:t>
            </a:r>
            <a:r>
              <a:rPr lang="en-US" sz="2000" b="1" dirty="0"/>
              <a:t> are used to specify how many times a </a:t>
            </a:r>
            <a:r>
              <a:rPr lang="en-US" sz="2000" b="1" dirty="0" err="1"/>
              <a:t>subpattern</a:t>
            </a:r>
            <a:r>
              <a:rPr lang="en-US" sz="2000" b="1" dirty="0"/>
              <a:t> can repeat. </a:t>
            </a:r>
            <a:r>
              <a:rPr lang="en-US" sz="2000" dirty="0"/>
              <a:t>The repetition relates to the </a:t>
            </a:r>
            <a:r>
              <a:rPr lang="en-US" sz="2000" dirty="0" err="1"/>
              <a:t>subpattern</a:t>
            </a:r>
            <a:r>
              <a:rPr lang="en-US" sz="2000" dirty="0"/>
              <a:t> that immediately precedes the </a:t>
            </a:r>
            <a:r>
              <a:rPr lang="en-US" sz="2000" dirty="0" err="1"/>
              <a:t>metacharacter</a:t>
            </a:r>
            <a:r>
              <a:rPr lang="en-US" sz="2000" dirty="0"/>
              <a:t> in the regular expression. </a:t>
            </a:r>
          </a:p>
          <a:p>
            <a:endParaRPr lang="en-US" sz="2000" dirty="0"/>
          </a:p>
          <a:p>
            <a:r>
              <a:rPr lang="en-US" sz="2000" b="1" dirty="0" smtClean="0"/>
              <a:t>‘?’</a:t>
            </a:r>
            <a:endParaRPr lang="en-US" sz="2000" b="1" dirty="0"/>
          </a:p>
          <a:p>
            <a:r>
              <a:rPr lang="en-US" sz="2000" dirty="0"/>
              <a:t> </a:t>
            </a:r>
          </a:p>
          <a:p>
            <a:r>
              <a:rPr lang="en-US" sz="2000" dirty="0"/>
              <a:t>The question mark means that the </a:t>
            </a:r>
            <a:r>
              <a:rPr lang="en-US" sz="2000" dirty="0" err="1"/>
              <a:t>subpattern</a:t>
            </a:r>
            <a:r>
              <a:rPr lang="en-US" sz="2000" dirty="0"/>
              <a:t> can be missing or it can occur exactly </a:t>
            </a:r>
            <a:r>
              <a:rPr lang="en-US" sz="2000" dirty="0" smtClean="0"/>
              <a:t>once. For </a:t>
            </a:r>
            <a:r>
              <a:rPr lang="en-US" sz="2000" dirty="0"/>
              <a:t>example, the regular expression </a:t>
            </a:r>
            <a:r>
              <a:rPr lang="en-US" sz="2000" b="1" dirty="0" smtClean="0"/>
              <a:t>"at[.]?" means</a:t>
            </a:r>
            <a:r>
              <a:rPr lang="en-US" sz="2000" b="1" dirty="0"/>
              <a:t>: the letter `a', followed by the letter `t', optionally followed by a full stop.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"at[.]" </a:t>
            </a:r>
            <a:r>
              <a:rPr lang="en-US" sz="2000" dirty="0" smtClean="0"/>
              <a:t>= The </a:t>
            </a:r>
            <a:r>
              <a:rPr lang="en-US" sz="2000" dirty="0"/>
              <a:t>cat sat on the </a:t>
            </a:r>
            <a:r>
              <a:rPr lang="en-US" sz="2000" b="1" dirty="0"/>
              <a:t>mat.</a:t>
            </a:r>
          </a:p>
          <a:p>
            <a:r>
              <a:rPr lang="en-US" sz="2000" dirty="0"/>
              <a:t>"at[.]?" </a:t>
            </a:r>
            <a:r>
              <a:rPr lang="en-US" sz="2000" dirty="0" smtClean="0"/>
              <a:t>-The </a:t>
            </a:r>
            <a:r>
              <a:rPr lang="en-US" sz="2000" b="1" dirty="0"/>
              <a:t>cat sat </a:t>
            </a:r>
            <a:r>
              <a:rPr lang="en-US" sz="2000" dirty="0"/>
              <a:t>on the </a:t>
            </a:r>
            <a:r>
              <a:rPr lang="en-US" sz="2000" b="1" dirty="0"/>
              <a:t>mat</a:t>
            </a:r>
            <a:r>
              <a:rPr lang="en-US" sz="2000" b="1" dirty="0" smtClean="0"/>
              <a:t>.</a:t>
            </a:r>
          </a:p>
          <a:p>
            <a:endParaRPr lang="en-US" sz="2000" dirty="0"/>
          </a:p>
          <a:p>
            <a:r>
              <a:rPr lang="en-US" sz="2000" b="1" dirty="0" smtClean="0"/>
              <a:t>‘*’</a:t>
            </a:r>
            <a:endParaRPr lang="en-US" sz="2000" b="1" dirty="0"/>
          </a:p>
          <a:p>
            <a:r>
              <a:rPr lang="en-US" sz="2000" dirty="0"/>
              <a:t> </a:t>
            </a:r>
          </a:p>
          <a:p>
            <a:r>
              <a:rPr lang="en-US" sz="2000" dirty="0"/>
              <a:t>The asterisk character means that the </a:t>
            </a:r>
            <a:r>
              <a:rPr lang="en-US" sz="2000" dirty="0" err="1"/>
              <a:t>subpattern</a:t>
            </a:r>
            <a:r>
              <a:rPr lang="en-US" sz="2000" dirty="0"/>
              <a:t> can </a:t>
            </a:r>
            <a:r>
              <a:rPr lang="en-US" sz="2000" b="1" dirty="0"/>
              <a:t>occur zero or more times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081483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9651" y="558624"/>
            <a:ext cx="1151106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‘+’</a:t>
            </a:r>
          </a:p>
          <a:p>
            <a:r>
              <a:rPr lang="en-US" sz="2400" dirty="0" smtClean="0"/>
              <a:t> </a:t>
            </a:r>
            <a:endParaRPr lang="en-US" sz="2400" dirty="0"/>
          </a:p>
          <a:p>
            <a:r>
              <a:rPr lang="en-US" sz="2400" dirty="0"/>
              <a:t>The plus character means that the </a:t>
            </a:r>
            <a:r>
              <a:rPr lang="en-US" sz="2400" dirty="0" err="1"/>
              <a:t>subpattern</a:t>
            </a:r>
            <a:r>
              <a:rPr lang="en-US" sz="2400" dirty="0"/>
              <a:t> can occur </a:t>
            </a:r>
            <a:r>
              <a:rPr lang="en-US" sz="2400" b="1" dirty="0"/>
              <a:t>one or more times.</a:t>
            </a:r>
          </a:p>
          <a:p>
            <a:r>
              <a:rPr lang="en-US" sz="2400" dirty="0"/>
              <a:t>For example, the regular expression </a:t>
            </a:r>
            <a:r>
              <a:rPr lang="en-US" sz="2400" b="1" dirty="0"/>
              <a:t>"[a-z]+" means: any number of (English) lowercase letters in a row.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"[a-z]+" </a:t>
            </a:r>
            <a:r>
              <a:rPr lang="en-US" sz="2400" dirty="0" smtClean="0"/>
              <a:t>– T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he 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cat sat on the mat 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dirty="0"/>
              <a:t>As an </a:t>
            </a:r>
            <a:r>
              <a:rPr lang="en-US" sz="2400" dirty="0" smtClean="0"/>
              <a:t>example, the </a:t>
            </a:r>
            <a:r>
              <a:rPr lang="en-US" sz="2400" dirty="0"/>
              <a:t>regular expression "</a:t>
            </a:r>
            <a:r>
              <a:rPr lang="en-US" sz="2400" dirty="0" err="1"/>
              <a:t>c.+t</a:t>
            </a:r>
            <a:r>
              <a:rPr lang="en-US" sz="2400" dirty="0"/>
              <a:t>" means: the letter `c', followed by any number of any character at all, followed by the letter `t'.</a:t>
            </a:r>
          </a:p>
          <a:p>
            <a:endParaRPr lang="en-US" sz="2400" dirty="0"/>
          </a:p>
          <a:p>
            <a:r>
              <a:rPr lang="en-US" sz="2400" dirty="0"/>
              <a:t>"</a:t>
            </a:r>
            <a:r>
              <a:rPr lang="en-US" sz="2400" dirty="0" err="1"/>
              <a:t>c.+t</a:t>
            </a:r>
            <a:r>
              <a:rPr lang="en-US" sz="2400" dirty="0"/>
              <a:t>" </a:t>
            </a:r>
            <a:r>
              <a:rPr lang="en-US" sz="2400" dirty="0" smtClean="0"/>
              <a:t>= The </a:t>
            </a:r>
            <a:r>
              <a:rPr lang="en-US" sz="2400" b="1" dirty="0"/>
              <a:t>cat sat on the mat </a:t>
            </a:r>
            <a:r>
              <a:rPr lang="en-US" sz="2400" dirty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706800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8562" y="345574"/>
            <a:ext cx="11410544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Grouping</a:t>
            </a:r>
          </a:p>
          <a:p>
            <a:endParaRPr lang="en-US" sz="2000" dirty="0"/>
          </a:p>
          <a:p>
            <a:r>
              <a:rPr lang="en-US" sz="2000" dirty="0" smtClean="0"/>
              <a:t>‘(‘ </a:t>
            </a:r>
            <a:r>
              <a:rPr lang="en-US" sz="2000" dirty="0"/>
              <a:t>and </a:t>
            </a:r>
            <a:r>
              <a:rPr lang="en-US" sz="2000" dirty="0" smtClean="0"/>
              <a:t>‘)’</a:t>
            </a:r>
            <a:endParaRPr lang="en-US" sz="2000" dirty="0"/>
          </a:p>
          <a:p>
            <a:r>
              <a:rPr lang="en-US" sz="2000" dirty="0"/>
              <a:t> </a:t>
            </a:r>
          </a:p>
          <a:p>
            <a:r>
              <a:rPr lang="en-US" sz="2000" dirty="0"/>
              <a:t>Parentheses can be used to define a </a:t>
            </a:r>
            <a:r>
              <a:rPr lang="en-US" sz="2000" dirty="0" err="1"/>
              <a:t>subpattern</a:t>
            </a:r>
            <a:r>
              <a:rPr lang="en-US" sz="2000" dirty="0"/>
              <a:t> within a regular expression. </a:t>
            </a:r>
            <a:endParaRPr lang="en-US" sz="2000" dirty="0" smtClean="0"/>
          </a:p>
          <a:p>
            <a:r>
              <a:rPr lang="en-US" sz="2000" dirty="0" smtClean="0"/>
              <a:t>For </a:t>
            </a:r>
            <a:r>
              <a:rPr lang="en-US" sz="2000" dirty="0"/>
              <a:t>example, the regular expression </a:t>
            </a:r>
            <a:r>
              <a:rPr lang="en-US" sz="2000" b="1" dirty="0"/>
              <a:t>"(</a:t>
            </a:r>
            <a:r>
              <a:rPr lang="en-US" sz="2000" b="1" dirty="0" err="1"/>
              <a:t>c|s</a:t>
            </a:r>
            <a:r>
              <a:rPr lang="en-US" sz="2000" b="1" dirty="0"/>
              <a:t>)at" means: the letter `c' or the letter `s', followed by the letter `a', followed by the letter `t'.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"(</a:t>
            </a:r>
            <a:r>
              <a:rPr lang="en-US" sz="2000" dirty="0" err="1"/>
              <a:t>c|s</a:t>
            </a:r>
            <a:r>
              <a:rPr lang="en-US" sz="2000" dirty="0"/>
              <a:t>)at" </a:t>
            </a:r>
            <a:r>
              <a:rPr lang="en-US" sz="2000" dirty="0" smtClean="0"/>
              <a:t>= The </a:t>
            </a:r>
            <a:r>
              <a:rPr lang="en-US" sz="2000" b="1" dirty="0"/>
              <a:t>cat sat </a:t>
            </a:r>
            <a:r>
              <a:rPr lang="en-US" sz="2000" dirty="0"/>
              <a:t>on the mat.</a:t>
            </a:r>
          </a:p>
          <a:p>
            <a:r>
              <a:rPr lang="en-US" sz="2000" dirty="0"/>
              <a:t>The regular expression </a:t>
            </a:r>
            <a:r>
              <a:rPr lang="en-US" sz="2000" b="1" dirty="0"/>
              <a:t>"(.</a:t>
            </a:r>
            <a:r>
              <a:rPr lang="en-US" sz="2000" b="1" dirty="0" smtClean="0"/>
              <a:t>at  )+" </a:t>
            </a:r>
            <a:r>
              <a:rPr lang="en-US" sz="2000" b="1" dirty="0"/>
              <a:t>means one or more repetitions of the following pattern: any letter at all, followed by the letter `a', followed by the letter `t', followed by a space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"(.at )+" </a:t>
            </a:r>
            <a:r>
              <a:rPr lang="en-US" sz="2000" dirty="0" smtClean="0"/>
              <a:t>= The </a:t>
            </a:r>
            <a:r>
              <a:rPr lang="en-US" sz="2000" b="1" dirty="0"/>
              <a:t>cat sat </a:t>
            </a:r>
            <a:r>
              <a:rPr lang="en-US" sz="2000" dirty="0"/>
              <a:t>on the mat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b="1" dirty="0"/>
              <a:t>Grouping is also useful for retaining original portions of text when performing a search-and-replace </a:t>
            </a:r>
            <a:r>
              <a:rPr lang="en-US" sz="2000" b="1" dirty="0" smtClean="0"/>
              <a:t>operation</a:t>
            </a:r>
            <a:r>
              <a:rPr lang="en-US" sz="2000" dirty="0" smtClean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23775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9302" y="474345"/>
            <a:ext cx="1098252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 smtClean="0"/>
              <a:t>Backreferences</a:t>
            </a:r>
            <a:r>
              <a:rPr lang="en-US" sz="2000" b="1" dirty="0" smtClean="0"/>
              <a:t>: </a:t>
            </a:r>
            <a:r>
              <a:rPr lang="en-US" sz="2000" dirty="0" smtClean="0"/>
              <a:t>It </a:t>
            </a:r>
            <a:r>
              <a:rPr lang="en-US" sz="2000" dirty="0"/>
              <a:t>is possible to refer to previous </a:t>
            </a:r>
            <a:r>
              <a:rPr lang="en-US" sz="2000" dirty="0" err="1"/>
              <a:t>subpatterns</a:t>
            </a:r>
            <a:r>
              <a:rPr lang="en-US" sz="2000" dirty="0"/>
              <a:t> within a regular expression using </a:t>
            </a:r>
            <a:r>
              <a:rPr lang="en-US" sz="2000" dirty="0" err="1"/>
              <a:t>backreferences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 smtClean="0"/>
              <a:t>‘\n’</a:t>
            </a:r>
            <a:endParaRPr lang="en-US" sz="2000" b="1" dirty="0"/>
          </a:p>
          <a:p>
            <a:r>
              <a:rPr lang="en-US" sz="2000" dirty="0"/>
              <a:t> </a:t>
            </a:r>
          </a:p>
          <a:p>
            <a:r>
              <a:rPr lang="en-US" sz="2000" dirty="0"/>
              <a:t>When parentheses are used in a pattern to delimit </a:t>
            </a:r>
            <a:r>
              <a:rPr lang="en-US" sz="2000" dirty="0" err="1"/>
              <a:t>subpatterns</a:t>
            </a:r>
            <a:r>
              <a:rPr lang="en-US" sz="2000" dirty="0"/>
              <a:t>, each </a:t>
            </a:r>
            <a:r>
              <a:rPr lang="en-US" sz="2000" dirty="0" err="1"/>
              <a:t>subpattern</a:t>
            </a:r>
            <a:r>
              <a:rPr lang="en-US" sz="2000" dirty="0"/>
              <a:t> may be referred to using a special escape sequence: \1 refers to the first </a:t>
            </a:r>
            <a:r>
              <a:rPr lang="en-US" sz="2000" dirty="0" err="1"/>
              <a:t>subpattern</a:t>
            </a:r>
            <a:r>
              <a:rPr lang="en-US" sz="2000" dirty="0"/>
              <a:t> (reading from the left), \2 refers to the second </a:t>
            </a:r>
            <a:r>
              <a:rPr lang="en-US" sz="2000" dirty="0" err="1"/>
              <a:t>subpattern</a:t>
            </a:r>
            <a:r>
              <a:rPr lang="en-US" sz="2000" dirty="0"/>
              <a:t>, and so on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dirty="0"/>
              <a:t>For example, the regular expression </a:t>
            </a:r>
            <a:r>
              <a:rPr lang="en-US" sz="2000" b="1" dirty="0"/>
              <a:t>"c(..) s\\1" means: the letter `c', followed by any two letters, followed by a space, followed by the letter `s', followed by whichever two letters followed the letter `c'.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"c(..) s\\1" </a:t>
            </a:r>
            <a:r>
              <a:rPr lang="en-US" sz="2000" dirty="0" smtClean="0"/>
              <a:t>=  The </a:t>
            </a:r>
            <a:r>
              <a:rPr lang="en-US" sz="2000" b="1" dirty="0"/>
              <a:t>cat</a:t>
            </a:r>
            <a:r>
              <a:rPr lang="en-US" sz="2000" dirty="0"/>
              <a:t> </a:t>
            </a:r>
            <a:r>
              <a:rPr lang="en-US" sz="2000" b="1" dirty="0"/>
              <a:t>sat</a:t>
            </a:r>
            <a:r>
              <a:rPr lang="en-US" sz="2000" dirty="0"/>
              <a:t> on the mat</a:t>
            </a:r>
            <a:r>
              <a:rPr lang="en-US" sz="2000" dirty="0" smtClean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4103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" y="792480"/>
            <a:ext cx="10576560" cy="59436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" y="0"/>
            <a:ext cx="1082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1. Lex program to count the number of words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4203269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0"/>
            <a:ext cx="1082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To run a Lex Program</a:t>
            </a:r>
            <a:endParaRPr lang="en-IN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2171524"/>
            <a:ext cx="11323320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64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082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 smtClean="0"/>
              <a:t>Lex.yy.c</a:t>
            </a:r>
            <a:r>
              <a:rPr lang="en-US" sz="3600" b="1" dirty="0" smtClean="0"/>
              <a:t> file</a:t>
            </a:r>
            <a:endParaRPr lang="en-IN" sz="36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90" y="890029"/>
            <a:ext cx="10690930" cy="564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663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082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File execution and its output </a:t>
            </a:r>
          </a:p>
          <a:p>
            <a:endParaRPr lang="en-IN" sz="36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042654"/>
            <a:ext cx="11323320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025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5240"/>
            <a:ext cx="12054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</a:t>
            </a:r>
            <a:r>
              <a:rPr lang="en-US" sz="3600" b="1" dirty="0" smtClean="0"/>
              <a:t>. Lex program to count the number of lines, tabs, spaces </a:t>
            </a:r>
            <a:endParaRPr lang="en-IN" sz="3600" b="1" dirty="0" smtClean="0"/>
          </a:p>
          <a:p>
            <a:endParaRPr lang="en-IN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767805"/>
            <a:ext cx="10927080" cy="584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621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5240"/>
            <a:ext cx="12054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</a:t>
            </a:r>
            <a:r>
              <a:rPr lang="en-US" sz="3600" b="1" dirty="0" smtClean="0"/>
              <a:t>. Lex program to count the number of lines, tabs, spaces </a:t>
            </a:r>
            <a:endParaRPr lang="en-IN" sz="3600" b="1" dirty="0" smtClean="0"/>
          </a:p>
          <a:p>
            <a:endParaRPr lang="en-IN" sz="36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267" y="2232516"/>
            <a:ext cx="8910129" cy="34367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215569"/>
            <a:ext cx="12054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Input file </a:t>
            </a:r>
            <a:endParaRPr lang="en-IN" sz="3600" b="1" dirty="0" smtClean="0"/>
          </a:p>
          <a:p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28330008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5240"/>
            <a:ext cx="12054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</a:t>
            </a:r>
            <a:r>
              <a:rPr lang="en-US" sz="3600" b="1" dirty="0" smtClean="0"/>
              <a:t>. Lex program to count the number of lines, tabs, spaces </a:t>
            </a:r>
            <a:endParaRPr lang="en-IN" sz="3600" b="1" dirty="0" smtClean="0"/>
          </a:p>
          <a:p>
            <a:endParaRPr lang="en-IN" sz="3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0" y="1215569"/>
            <a:ext cx="12054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Output:</a:t>
            </a:r>
            <a:endParaRPr lang="en-IN" sz="3600" b="1" dirty="0" smtClean="0"/>
          </a:p>
          <a:p>
            <a:endParaRPr lang="en-IN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61" y="2068636"/>
            <a:ext cx="8545118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6762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13755"/>
          </a:xfrm>
        </p:spPr>
        <p:txBody>
          <a:bodyPr>
            <a:normAutofit/>
          </a:bodyPr>
          <a:lstStyle/>
          <a:p>
            <a:r>
              <a:rPr lang="en-US" dirty="0" smtClean="0"/>
              <a:t> /* match everything except newline */     </a:t>
            </a:r>
            <a:br>
              <a:rPr lang="en-US" dirty="0" smtClean="0"/>
            </a:br>
            <a:r>
              <a:rPr lang="en-US" dirty="0" smtClean="0"/>
              <a:t>.	ECHO;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/* match new line */</a:t>
            </a:r>
            <a:br>
              <a:rPr lang="en-US" dirty="0" smtClean="0"/>
            </a:br>
            <a:r>
              <a:rPr lang="en-US" dirty="0" smtClean="0"/>
              <a:t>\n	ECHO;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%%     </a:t>
            </a:r>
            <a:br>
              <a:rPr lang="en-US" dirty="0" smtClean="0"/>
            </a:br>
            <a:r>
              <a:rPr lang="en-US" dirty="0" smtClean="0"/>
              <a:t>a?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607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3775</TotalTime>
  <Words>1394</Words>
  <Application>Microsoft Office PowerPoint</Application>
  <PresentationFormat>Widescreen</PresentationFormat>
  <Paragraphs>138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/* match everything except newline */      . ECHO;  /* match new line */ \n ECHO;  %%      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CHARUSAT</dc:creator>
  <cp:lastModifiedBy>CHARUSAT</cp:lastModifiedBy>
  <cp:revision>41</cp:revision>
  <dcterms:created xsi:type="dcterms:W3CDTF">2024-12-24T03:47:10Z</dcterms:created>
  <dcterms:modified xsi:type="dcterms:W3CDTF">2024-12-27T03:33:54Z</dcterms:modified>
</cp:coreProperties>
</file>